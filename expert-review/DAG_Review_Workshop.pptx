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2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42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minutes — time is the main constraint. Keep this slide brief (≈1 min). Session is recorded; no live polling. Scope is England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discussion over presentation, recorded, written channels remain open. Replaces the Mentimeter plan. ≈5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message: the adjustment set is derived FROM the DAG, not a starting point. The DAG precedes the data. Emphasise what NOT to adjust for. ≈5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Today is Stage 2. Each edge has a written justification in the appendix edge table. ≈4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skip. Only the collider point tends to surprise people. ≈2 min or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feedback, all via GitHub Issues, all still open. Two reviewers (handles kalsarikannit80 and amymizen) across six nodes: MH, Housing, IEQ, Fuel Poverty, Overcrowding, Green Space. Housing is the hotspot — three comments on maintenance (#8), structural/safety such as cladding (#9), and whether it is a mediator rather than a confounder (#6). Other suggestions: fuel prices feeding fuel poverty (#5), an IEQ→fuel-poverty edge via damp/mould (#7), green space as view not just proximity (#3), overcrowding extended to building density/adjacency (#4). The temporal point (#10) connects to the next slide. ≈6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 asked whether the audience sees the whole DAG first — yes, this is it. 25 nodes, 7 layers left to right from exposure (HEE) to outcome (MH). The five ringed nodes are the verified minimal adjustment set. Then walk sector by sector. ≈6 min.</a:t>
            </a:r>
          </a:p>
          <a:p>
            <a:endParaRPr lang="en-US" dirty="0"/>
          </a:p>
          <a:p>
            <a:r>
              <a:rPr lang="en-US" dirty="0"/>
              <a:t>sensitivity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identifying assumptions BEFORE the sectors, so the room shares one frame. Ordered easiest (definitional) to hardest (contestable) — the bar on the right grows with how much we have to think about each. Spend the time on the last two: stable confounding / parallel trends (the change-score design's load-bearing assumption) and no unmeasured confounding (which the sector review then interrogates edge by edge). Ecological inference is an interpretation caveat, noted at the foot. ≈9 min.</a:t>
            </a:r>
          </a:p>
          <a:p>
            <a:endParaRPr lang="en-US" dirty="0"/>
          </a:p>
          <a:p>
            <a:r>
              <a:rPr lang="en-US" dirty="0"/>
              <a:t>built environment -&gt; depression (?)</a:t>
            </a:r>
          </a:p>
          <a:p>
            <a:r>
              <a:rPr lang="en-US" dirty="0"/>
              <a:t>how about improper HEE improvements</a:t>
            </a:r>
          </a:p>
          <a:p>
            <a:r>
              <a:rPr lang="en-US" dirty="0"/>
              <a:t>assumption is successful</a:t>
            </a:r>
          </a:p>
          <a:p>
            <a:r>
              <a:rPr lang="en-US" dirty="0"/>
              <a:t>linear (1) HEE rating itself (2) HEE -&gt; MH</a:t>
            </a:r>
          </a:p>
          <a:p>
            <a:r>
              <a:rPr lang="en-US" dirty="0"/>
              <a:t>be specific about each node (will influence DAG)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Reframes the tractability/severity scoring GP queried: coarse high/med/low + the single most-doubted edge, rather than a 6-vs-8. Easy to answer; steers discussion time. ≈2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the DAG: the exposure-to-outcome chain via IEQ, plus the fuel-poverty and noise routes. These are mediators — we estimate the TOTAL effect, so we do NOT adjust for them. Per GP, the 'anything missing?' question lives inside each sector. ≈8 min; ≈40 min across all five.</a:t>
            </a:r>
          </a:p>
          <a:p>
            <a:endParaRPr lang="en-US" dirty="0"/>
          </a:p>
          <a:p>
            <a:r>
              <a:rPr lang="en-US" dirty="0"/>
              <a:t>noise air pollution?</a:t>
            </a:r>
          </a:p>
          <a:p>
            <a:endParaRPr lang="en-US" dirty="0"/>
          </a:p>
          <a:p>
            <a:r>
              <a:rPr lang="en-US" dirty="0"/>
              <a:t>clarify Fuel Poverty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Exclusion of education and demographics from the adjustment set is a derived finding, not an oversight — invite challenge. Economic capital is the one retained here. Per GP, the 'anything missing?' question lives inside each sector. ≈8 min; ≈40 min across all five.</a:t>
            </a:r>
          </a:p>
          <a:p>
            <a:endParaRPr lang="en-US" dirty="0"/>
          </a:p>
          <a:p>
            <a:r>
              <a:rPr lang="en-US" dirty="0"/>
              <a:t>how about social housing?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Housing characteristics and tenure are the two confounders retained here. The Overcrowding → IEQ edge (distinct from Housing → IEQ) is a good one to probe. Per GP, the 'anything missing?' question lives inside each sector. ≈8 min; ≈40 min across all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busiest, most contestable sector. The single-latent-neighbourhood abstraction is the key modelling choice to stress-test. Urbanicity (the observed handle) is reviewed in the next sector. Per GP, the 'anything missing?' question lives inside each sector. ≈8 min; ≈40 min across all five.</a:t>
            </a:r>
          </a:p>
          <a:p>
            <a:endParaRPr lang="en-US" dirty="0"/>
          </a:p>
          <a:p>
            <a:r>
              <a:rPr lang="en-US" dirty="0"/>
              <a:t>housing level density?</a:t>
            </a:r>
          </a:p>
          <a:p>
            <a:r>
              <a:rPr lang="en-US" dirty="0"/>
              <a:t>accessibility (availability) to 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Climate and urbanicity are the two adjustment-set confounders here. The policy node was narrowed to 'scheme access'; its classification (mediator vs potential instrument) is a legitimate discussion point. Per GP, the 'anything missing?' question lives inside each sector. ≈8 min; ≈40 min across all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Phil's requested slide. Frame the tension: QOF (clean, pre-pandemic change score) vs SAMHI (broader construct, but change score spans COVID). Ask: primary vs sensitivity? ≈7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what happens to today's input and what sign-off means. Reassure absentees and quiet participants. ≈5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 the two written channels and that absentees receive the revised DAG. Keep it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reference. The adjustment set is dagitty-verified; education/demographics exclusion is a finding. Note Neighbourhood is modelled as latent.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937760" cy="4937760"/>
          </a:xfrm>
          <a:prstGeom prst="ellipse">
            <a:avLst/>
          </a:prstGeom>
          <a:solidFill>
            <a:srgbClr val="124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-365760"/>
            <a:ext cx="2926080" cy="2926080"/>
          </a:xfrm>
          <a:prstGeom prst="ellipse">
            <a:avLst/>
          </a:prstGeom>
          <a:solidFill>
            <a:srgbClr val="1758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" y="914400"/>
            <a:ext cx="868680" cy="868680"/>
          </a:xfrm>
          <a:prstGeom prst="ellipse">
            <a:avLst/>
          </a:prstGeom>
          <a:solidFill>
            <a:srgbClr val="D98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124712"/>
            <a:ext cx="448056" cy="448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965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 WORKSHOP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286000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Causal Structure of Home Energy Efficiency and Mental Health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9436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Directed Acyclic Graph at the LSOA level in England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" y="4709160"/>
            <a:ext cx="3840480" cy="0"/>
          </a:xfrm>
          <a:prstGeom prst="line">
            <a:avLst/>
          </a:prstGeom>
          <a:noFill/>
          <a:ln w="19050">
            <a:solidFill>
              <a:srgbClr val="D98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48920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22 June 2026  ·  10:30 – 12:00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 Sang Au Yong  ·  UCL Institute for Environmental Design and Engineering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Phil Symonds · Giorgos Petrou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90 MINUTES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544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DAG fits the research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the DAG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4360" y="26517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300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DAG — overview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430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94360" y="3749040"/>
            <a:ext cx="365760" cy="365760"/>
          </a:xfrm>
          <a:prstGeom prst="ellipse">
            <a:avLst/>
          </a:prstGeom>
          <a:solidFill>
            <a:srgbClr val="D98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430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Sector-by-sector review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94360" y="42976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4300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Mental-health data: QOF vs SAMHI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9436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4300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sign-off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4300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bulk of our time is item 5.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858000" y="1554480"/>
            <a:ext cx="4739335" cy="3657600"/>
          </a:xfrm>
          <a:prstGeom prst="roundRect">
            <a:avLst>
              <a:gd name="adj" fmla="val 2000"/>
            </a:avLst>
          </a:prstGeom>
          <a:solidFill>
            <a:srgbClr val="EAF2F3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132320" y="1783080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run it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132320" y="2240280"/>
            <a:ext cx="41906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Discussion-led, not a slideshow. Slides set up each question; the value is in the conversation.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is recorded, so points raised are captured — no need to type anything in.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channels stay open before and after: GitHub Issues and annotated PDF.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Timings are indicative — we'll spend longest where disagreement is greatest.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HERE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DAG fits into the research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3423818" cy="1417320"/>
          </a:xfrm>
          <a:prstGeom prst="roundRect">
            <a:avLst>
              <a:gd name="adj" fmla="val 5161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0299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892808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1 — build the DAG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22960" y="2441448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our causal assumptions as a graph and validate them with you. Derive the minimal adjustment set.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83938" y="1691640"/>
            <a:ext cx="3423818" cy="1417320"/>
          </a:xfrm>
          <a:prstGeom prst="roundRect">
            <a:avLst>
              <a:gd name="adj" fmla="val 5161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12538" y="1920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266" y="20299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06898" y="1892808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2 — estimate the effect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612538" y="2441448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that adjustment set in doubly-robust causal-ML estimators to estimate the effect of efficiency on mental health.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73517" y="1691640"/>
            <a:ext cx="3423818" cy="1417320"/>
          </a:xfrm>
          <a:prstGeom prst="roundRect">
            <a:avLst>
              <a:gd name="adj" fmla="val 5161"/>
            </a:avLst>
          </a:prstGeom>
          <a:solidFill>
            <a:srgbClr val="FBEFE0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402117" y="1920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1845" y="20299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96477" y="1892808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role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402117" y="2441448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 is only as credible as the DAG behind it. Your review underwrites everything downstream.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94360" y="3520440"/>
            <a:ext cx="11002975" cy="1874520"/>
          </a:xfrm>
          <a:prstGeom prst="roundRect">
            <a:avLst>
              <a:gd name="adj" fmla="val 3902"/>
            </a:avLst>
          </a:prstGeom>
          <a:solidFill>
            <a:srgbClr val="0E3A3B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960120" y="3749040"/>
            <a:ext cx="10271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DAG is the bridge between assumption and estimation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60120" y="4206240"/>
            <a:ext cx="10271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states, explicitly and in advance, what we believe causes what — so the choice of variables to adjust for is principled rather than ad hoc.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Crucially, it also tells us what NOT to condition on (mediators, colliders). Adjusting for the wrong thing biases the estimate.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min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REVIEW STAGES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built the DAG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920240"/>
            <a:ext cx="1871411" cy="1143000"/>
          </a:xfrm>
          <a:prstGeom prst="roundRect">
            <a:avLst>
              <a:gd name="adj" fmla="val 6400"/>
            </a:avLst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7512" y="1920240"/>
            <a:ext cx="17251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domain reasoning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635" y="2345436"/>
            <a:ext cx="301752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77251" y="1920240"/>
            <a:ext cx="1871411" cy="1143000"/>
          </a:xfrm>
          <a:prstGeom prst="roundRect">
            <a:avLst>
              <a:gd name="adj" fmla="val 6400"/>
            </a:avLst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950403" y="1920240"/>
            <a:ext cx="17251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DAG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526" y="2345436"/>
            <a:ext cx="301752" cy="30175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160142" y="1920240"/>
            <a:ext cx="1871411" cy="1143000"/>
          </a:xfrm>
          <a:prstGeom prst="roundRect">
            <a:avLst>
              <a:gd name="adj" fmla="val 6400"/>
            </a:avLst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5233294" y="1920240"/>
            <a:ext cx="17251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Pre-workshop comments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417" y="2345436"/>
            <a:ext cx="301752" cy="30175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443033" y="1920240"/>
            <a:ext cx="1871411" cy="1143000"/>
          </a:xfrm>
          <a:prstGeom prst="roundRect">
            <a:avLst>
              <a:gd name="adj" fmla="val 6400"/>
            </a:avLst>
          </a:prstGeom>
          <a:solidFill>
            <a:srgbClr val="D98C3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7516185" y="1920240"/>
            <a:ext cx="17251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workshop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308" y="2345436"/>
            <a:ext cx="301752" cy="30175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9725924" y="1920240"/>
            <a:ext cx="1871411" cy="1143000"/>
          </a:xfrm>
          <a:prstGeom prst="roundRect">
            <a:avLst>
              <a:gd name="adj" fmla="val 6400"/>
            </a:avLst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9799076" y="1920240"/>
            <a:ext cx="17251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94360" y="333756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Stage 2 of the three-stage expert review — pre-workshop comments are triaged; sign-off follows.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94360" y="3931920"/>
            <a:ext cx="11002975" cy="1554480"/>
          </a:xfrm>
          <a:prstGeom prst="roundRect">
            <a:avLst>
              <a:gd name="adj" fmla="val 4706"/>
            </a:avLst>
          </a:prstGeom>
          <a:solidFill>
            <a:srgbClr val="FBEFE0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7680"/>
            <a:ext cx="502920" cy="5029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645920" y="4114800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theoretical construct, drawn before the data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1645920" y="4526280"/>
            <a:ext cx="9631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is justified from evidence and domain reasoning, not learned from correlations in the dataset. Each assumption carries a written rationale (the appendix edge table), which is exactly what your review interrogates.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min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VOCABULARY — SKIP IF WE'RE ALL FLUENT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a DAG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272888" cy="960120"/>
          </a:xfrm>
          <a:prstGeom prst="roundRect">
            <a:avLst>
              <a:gd name="adj" fmla="val 7619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1810512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13055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(e.g. tenure, indoor environmental quality).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691640"/>
            <a:ext cx="5272888" cy="960120"/>
          </a:xfrm>
          <a:prstGeom prst="roundRect">
            <a:avLst>
              <a:gd name="adj" fmla="val 7619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53048" y="1810512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Directed edge  →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53048" y="213055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assumed direct causal effect of one variable on another.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2880360"/>
            <a:ext cx="5272888" cy="960120"/>
          </a:xfrm>
          <a:prstGeom prst="roundRect">
            <a:avLst>
              <a:gd name="adj" fmla="val 7619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2999232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331927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cause of exposure and outcome — adjust for it to remove bias.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24448" y="2880360"/>
            <a:ext cx="5272888" cy="960120"/>
          </a:xfrm>
          <a:prstGeom prst="roundRect">
            <a:avLst>
              <a:gd name="adj" fmla="val 7619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53048" y="2999232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53048" y="331927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the causal pathway — do NOT adjust if we want the total effect.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4360" y="4069080"/>
            <a:ext cx="5272888" cy="960120"/>
          </a:xfrm>
          <a:prstGeom prst="roundRect">
            <a:avLst>
              <a:gd name="adj" fmla="val 7619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4187952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Collider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2960" y="450799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effect of two variables — conditioning on it opens bias.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24448" y="4069080"/>
            <a:ext cx="5272888" cy="960120"/>
          </a:xfrm>
          <a:prstGeom prst="roundRect">
            <a:avLst>
              <a:gd name="adj" fmla="val 7619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53048" y="4187952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node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553048" y="450799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unobserved construct we cannot measure directly (drawn, not adjusted).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min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WHAT CAME 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Pre-workshop feedback so far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2510714" cy="1234440"/>
          </a:xfrm>
          <a:prstGeom prst="roundRect">
            <a:avLst>
              <a:gd name="adj" fmla="val 5926"/>
            </a:avLst>
          </a:prstGeom>
          <a:solidFill>
            <a:srgbClr val="EAF2F3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801368"/>
            <a:ext cx="2510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2468880"/>
            <a:ext cx="2327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via GitHub Issues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5114" y="1691640"/>
            <a:ext cx="2510714" cy="1234440"/>
          </a:xfrm>
          <a:prstGeom prst="roundRect">
            <a:avLst>
              <a:gd name="adj" fmla="val 5926"/>
            </a:avLst>
          </a:prstGeom>
          <a:solidFill>
            <a:srgbClr val="EAF2F3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25114" y="1801368"/>
            <a:ext cx="2510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516554" y="2468880"/>
            <a:ext cx="2327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nodes flagged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55868" y="1691640"/>
            <a:ext cx="2510714" cy="1234440"/>
          </a:xfrm>
          <a:prstGeom prst="roundRect">
            <a:avLst>
              <a:gd name="adj" fmla="val 5926"/>
            </a:avLst>
          </a:prstGeom>
          <a:solidFill>
            <a:srgbClr val="EAF2F3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55868" y="1801368"/>
            <a:ext cx="2510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347308" y="2468880"/>
            <a:ext cx="2327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so far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86621" y="1691640"/>
            <a:ext cx="2510714" cy="1234440"/>
          </a:xfrm>
          <a:prstGeom prst="roundRect">
            <a:avLst>
              <a:gd name="adj" fmla="val 5926"/>
            </a:avLst>
          </a:prstGeom>
          <a:solidFill>
            <a:srgbClr val="FBEFE0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086621" y="1801368"/>
            <a:ext cx="2510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8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9178061" y="2468880"/>
            <a:ext cx="2327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themes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94360" y="306324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comments are currently open on the GitHub Issues board — brought here for discussion and resolution.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3474720"/>
            <a:ext cx="11002975" cy="2331720"/>
          </a:xfrm>
          <a:prstGeom prst="roundRect">
            <a:avLst>
              <a:gd name="adj" fmla="val 3137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8680" y="365760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themes carried into today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8680" y="4069080"/>
            <a:ext cx="10454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characteristics is the most-discussed node (3 of 8 comments): should it also capture maintenance and structural/safety issues such as cladding — and could visible disrepair make it a mediator, not only a confounder?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scope and definition: green space to reflect views, not only proximity; overcrowding to extend to housing density and adjacency in multi-dwelling blocks.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variables and edges: fuel prices as a driver of fuel poverty; a direct indoor-environment → fuel-poverty link via damp and mould.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dynamics: the DAG has no explicit time dimension, yet many variables vary over time at different scales — which feeds straight into today's assumptions on temporal precedence and consistency.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BEFORE WE GO SECTOR BY SECTOR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DAG</a:t>
            </a:r>
            <a:endParaRPr lang="en-US" sz="2700" dirty="0"/>
          </a:p>
        </p:txBody>
      </p:sp>
      <p:pic>
        <p:nvPicPr>
          <p:cNvPr id="6" name="Image 1" descr="/home/claude/dag_full.png"/>
          <p:cNvPicPr>
            <a:picLocks noChangeAspect="1"/>
          </p:cNvPicPr>
          <p:nvPr/>
        </p:nvPicPr>
        <p:blipFill>
          <a:blip r:embed="rId4"/>
          <a:srcRect t="-1816" b="-1816"/>
          <a:stretch/>
        </p:blipFill>
        <p:spPr>
          <a:xfrm>
            <a:off x="594360" y="1572768"/>
            <a:ext cx="8183880" cy="4572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098280" y="1572768"/>
            <a:ext cx="2499055" cy="45720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299448" y="1700784"/>
            <a:ext cx="2096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Legend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299448" y="204825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D98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619488" y="2029968"/>
            <a:ext cx="1785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(HEE)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299448" y="23637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619488" y="2345436"/>
            <a:ext cx="1785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(MH)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299448" y="26791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9619488" y="2660904"/>
            <a:ext cx="1785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confounder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299448" y="29946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E9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619488" y="2976372"/>
            <a:ext cx="1785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mediator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299448" y="331012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C7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619488" y="3291840"/>
            <a:ext cx="1785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/ structural mediator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299448" y="36255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3FA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9619488" y="3607308"/>
            <a:ext cx="1785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mediator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9299448" y="394106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9AA9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9619488" y="3922776"/>
            <a:ext cx="1785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(unobserved)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299448" y="4302252"/>
            <a:ext cx="2096719" cy="0"/>
          </a:xfrm>
          <a:prstGeom prst="line">
            <a:avLst/>
          </a:prstGeom>
          <a:noFill/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9299448" y="4357116"/>
            <a:ext cx="2096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8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Adjustment set (thick ring)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299448" y="4613148"/>
            <a:ext cx="20967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· Economic capital · Housing characteristics · Tenure · Urbanicity — verified in dagitty.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FROM MOST STRAIGHTFORWARD TO MOST DEMANDING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assumptions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088575" y="1161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→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417320"/>
            <a:ext cx="11002975" cy="621792"/>
          </a:xfrm>
          <a:prstGeom prst="roundRect">
            <a:avLst>
              <a:gd name="adj" fmla="val 8824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58952" y="152704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8952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07592" y="14721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Well-defined intervention   </a:t>
            </a:r>
            <a:r>
              <a:rPr lang="en-US" sz="10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(consistency)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07592" y="1719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‘More efficient’ must mean one comparable thing (in our case, the EPC band) so the same improvement counts the same in every area.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088575" y="1673352"/>
            <a:ext cx="1325880" cy="109728"/>
          </a:xfrm>
          <a:prstGeom prst="roundRect">
            <a:avLst>
              <a:gd name="adj" fmla="val 50000"/>
            </a:avLst>
          </a:prstGeom>
          <a:solidFill>
            <a:srgbClr val="E4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088575" y="1673352"/>
            <a:ext cx="189411" cy="1097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94360" y="2093976"/>
            <a:ext cx="11002975" cy="621792"/>
          </a:xfrm>
          <a:prstGeom prst="roundRect">
            <a:avLst>
              <a:gd name="adj" fmla="val 8824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58952" y="2203704"/>
            <a:ext cx="402336" cy="402336"/>
          </a:xfrm>
          <a:prstGeom prst="ellipse">
            <a:avLst/>
          </a:prstGeom>
          <a:solidFill>
            <a:srgbClr val="3C76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8952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07592" y="21488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time order   </a:t>
            </a:r>
            <a:r>
              <a:rPr lang="en-US" sz="10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(temporal precedence)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307592" y="2395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is measured before the change in mental health it is meant to cause.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0088575" y="2350008"/>
            <a:ext cx="1325880" cy="109728"/>
          </a:xfrm>
          <a:prstGeom prst="roundRect">
            <a:avLst>
              <a:gd name="adj" fmla="val 50000"/>
            </a:avLst>
          </a:prstGeom>
          <a:solidFill>
            <a:srgbClr val="E4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88575" y="2350008"/>
            <a:ext cx="378823" cy="109728"/>
          </a:xfrm>
          <a:prstGeom prst="roundRect">
            <a:avLst>
              <a:gd name="adj" fmla="val 50000"/>
            </a:avLst>
          </a:prstGeom>
          <a:solidFill>
            <a:srgbClr val="3C76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2770632"/>
            <a:ext cx="11002975" cy="621792"/>
          </a:xfrm>
          <a:prstGeom prst="roundRect">
            <a:avLst>
              <a:gd name="adj" fmla="val 8824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58952" y="2880360"/>
            <a:ext cx="402336" cy="402336"/>
          </a:xfrm>
          <a:prstGeom prst="ellipse">
            <a:avLst/>
          </a:prstGeom>
          <a:solidFill>
            <a:srgbClr val="5B7B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58952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07592" y="28254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spillover between areas   </a:t>
            </a:r>
            <a:r>
              <a:rPr lang="en-US" sz="10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(no interference)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307592" y="3072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area’s retrofitting does not change a neighbouring area’s mental health.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0088575" y="3026664"/>
            <a:ext cx="1325880" cy="109728"/>
          </a:xfrm>
          <a:prstGeom prst="roundRect">
            <a:avLst>
              <a:gd name="adj" fmla="val 50000"/>
            </a:avLst>
          </a:prstGeom>
          <a:solidFill>
            <a:srgbClr val="E4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0088575" y="3026664"/>
            <a:ext cx="568234" cy="109728"/>
          </a:xfrm>
          <a:prstGeom prst="roundRect">
            <a:avLst>
              <a:gd name="adj" fmla="val 50000"/>
            </a:avLst>
          </a:prstGeom>
          <a:solidFill>
            <a:srgbClr val="5B7B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94360" y="3447288"/>
            <a:ext cx="11002975" cy="621792"/>
          </a:xfrm>
          <a:prstGeom prst="roundRect">
            <a:avLst>
              <a:gd name="adj" fmla="val 8824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58952" y="3557016"/>
            <a:ext cx="402336" cy="402336"/>
          </a:xfrm>
          <a:prstGeom prst="ellipse">
            <a:avLst/>
          </a:prstGeom>
          <a:solidFill>
            <a:srgbClr val="7B7F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58952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307592" y="35021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measurement over time   </a:t>
            </a:r>
            <a:r>
              <a:rPr lang="en-US" sz="10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(temporal consistency)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307592" y="3749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is recorded the same way in 2011 and 2019, so a change in the numbers is a real change — not a change in how cases are coded.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0088575" y="3703320"/>
            <a:ext cx="1325880" cy="109728"/>
          </a:xfrm>
          <a:prstGeom prst="roundRect">
            <a:avLst>
              <a:gd name="adj" fmla="val 50000"/>
            </a:avLst>
          </a:prstGeom>
          <a:solidFill>
            <a:srgbClr val="E4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088575" y="3703320"/>
            <a:ext cx="757646" cy="109728"/>
          </a:xfrm>
          <a:prstGeom prst="roundRect">
            <a:avLst>
              <a:gd name="adj" fmla="val 50000"/>
            </a:avLst>
          </a:prstGeom>
          <a:solidFill>
            <a:srgbClr val="7B7F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94360" y="4123944"/>
            <a:ext cx="11002975" cy="621792"/>
          </a:xfrm>
          <a:prstGeom prst="roundRect">
            <a:avLst>
              <a:gd name="adj" fmla="val 8824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58952" y="4233672"/>
            <a:ext cx="402336" cy="402336"/>
          </a:xfrm>
          <a:prstGeom prst="ellipse">
            <a:avLst/>
          </a:prstGeom>
          <a:solidFill>
            <a:srgbClr val="9A83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58952" y="4233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307592" y="4178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could go either way   </a:t>
            </a:r>
            <a:r>
              <a:rPr lang="en-US" sz="10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(positivity)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1307592" y="44256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kind of area could plausibly have had higher or lower efficiency — none is always, or never, efficient.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10088575" y="4379976"/>
            <a:ext cx="1325880" cy="109728"/>
          </a:xfrm>
          <a:prstGeom prst="roundRect">
            <a:avLst>
              <a:gd name="adj" fmla="val 50000"/>
            </a:avLst>
          </a:prstGeom>
          <a:solidFill>
            <a:srgbClr val="E4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10088575" y="4379976"/>
            <a:ext cx="947057" cy="109728"/>
          </a:xfrm>
          <a:prstGeom prst="roundRect">
            <a:avLst>
              <a:gd name="adj" fmla="val 50000"/>
            </a:avLst>
          </a:prstGeom>
          <a:solidFill>
            <a:srgbClr val="9A83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94360" y="4800600"/>
            <a:ext cx="11002975" cy="621792"/>
          </a:xfrm>
          <a:prstGeom prst="roundRect">
            <a:avLst>
              <a:gd name="adj" fmla="val 8824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58952" y="4910328"/>
            <a:ext cx="402336" cy="402336"/>
          </a:xfrm>
          <a:prstGeom prst="ellipse">
            <a:avLst/>
          </a:prstGeom>
          <a:solidFill>
            <a:srgbClr val="BA8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58952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307592" y="48554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stays fixed cancels out   </a:t>
            </a:r>
            <a:r>
              <a:rPr lang="en-US" sz="10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(stable confounding / parallel trends)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1307592" y="5102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 2011→2019 removes whatever stayed constant — valid only if unmeasured factors stayed put and areas would otherwise have moved in parallel.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10088575" y="5056632"/>
            <a:ext cx="1325880" cy="109728"/>
          </a:xfrm>
          <a:prstGeom prst="roundRect">
            <a:avLst>
              <a:gd name="adj" fmla="val 50000"/>
            </a:avLst>
          </a:prstGeom>
          <a:solidFill>
            <a:srgbClr val="E4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0088575" y="5056632"/>
            <a:ext cx="1136469" cy="109728"/>
          </a:xfrm>
          <a:prstGeom prst="roundRect">
            <a:avLst>
              <a:gd name="adj" fmla="val 50000"/>
            </a:avLst>
          </a:prstGeom>
          <a:solidFill>
            <a:srgbClr val="BA8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94360" y="5477256"/>
            <a:ext cx="11002975" cy="621792"/>
          </a:xfrm>
          <a:prstGeom prst="roundRect">
            <a:avLst>
              <a:gd name="adj" fmla="val 8824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758952" y="5586984"/>
            <a:ext cx="402336" cy="402336"/>
          </a:xfrm>
          <a:prstGeom prst="ellipse">
            <a:avLst/>
          </a:prstGeom>
          <a:solidFill>
            <a:srgbClr val="D98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758952" y="5586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307592" y="5532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important is missing   </a:t>
            </a:r>
            <a:r>
              <a:rPr lang="en-US" sz="105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(no unmeasured confounding)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1307592" y="5779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adjusting on the </a:t>
            </a:r>
            <a:r>
              <a:rPr lang="en-HK" sz="1050" dirty="0"/>
              <a:t>minimal adjustment set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efficient and inefficient areas become comparable.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10088575" y="5733288"/>
            <a:ext cx="1325880" cy="109728"/>
          </a:xfrm>
          <a:prstGeom prst="roundRect">
            <a:avLst>
              <a:gd name="adj" fmla="val 50000"/>
            </a:avLst>
          </a:prstGeom>
          <a:solidFill>
            <a:srgbClr val="E4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0088575" y="5733288"/>
            <a:ext cx="1325880" cy="109728"/>
          </a:xfrm>
          <a:prstGeom prst="roundRect">
            <a:avLst>
              <a:gd name="adj" fmla="val 50000"/>
            </a:avLst>
          </a:prstGeom>
          <a:solidFill>
            <a:srgbClr val="D98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594360" y="619048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 interpretation caveat: these are area-level (ecological) effects, which need not equal individual-level effects.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 min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124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D98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978408"/>
            <a:ext cx="374904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SECTOR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kept deliberately simple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94360" y="3063240"/>
            <a:ext cx="3423818" cy="2286000"/>
          </a:xfrm>
          <a:prstGeom prst="roundRect">
            <a:avLst>
              <a:gd name="adj" fmla="val 3200"/>
            </a:avLst>
          </a:prstGeom>
          <a:solidFill>
            <a:srgbClr val="124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" y="3337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747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40233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 assumptions right?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46177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edges in this sector reflect plausible direct causes, in the right direction?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83938" y="3063240"/>
            <a:ext cx="3423818" cy="2286000"/>
          </a:xfrm>
          <a:prstGeom prst="roundRect">
            <a:avLst>
              <a:gd name="adj" fmla="val 3200"/>
            </a:avLst>
          </a:prstGeom>
          <a:solidFill>
            <a:srgbClr val="124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658258" y="3337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418" y="347472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58258" y="40233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anything missing?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58258" y="46177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variables or pathways we have left out that matter at the LSOA level?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73517" y="3063240"/>
            <a:ext cx="3423818" cy="2286000"/>
          </a:xfrm>
          <a:prstGeom prst="roundRect">
            <a:avLst>
              <a:gd name="adj" fmla="val 3200"/>
            </a:avLst>
          </a:prstGeom>
          <a:solidFill>
            <a:srgbClr val="124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447837" y="3337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997" y="347472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47837" y="40233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confident is the room?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447837" y="46177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coarse read — high / medium / low — plus the one edge you would most want to revisit.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94360" y="55778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coarse confidence and the most-doubted edge tells us where to dig — more usefully than a fine-grained numeric score.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REVIEW · EXPOSURE, MEDIATORS &amp; OUTCOME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pathway: efficiency → mental health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5727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this sector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D98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00784" y="1874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4E9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746504" y="18745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IEQ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07208" y="1874520"/>
            <a:ext cx="1174090" cy="384048"/>
          </a:xfrm>
          <a:prstGeom prst="roundRect">
            <a:avLst>
              <a:gd name="adj" fmla="val 14286"/>
            </a:avLst>
          </a:prstGeom>
          <a:solidFill>
            <a:srgbClr val="5C7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52928" y="1874520"/>
            <a:ext cx="1082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poverty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27602" y="1874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4E9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73322" y="18745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234026" y="1874520"/>
            <a:ext cx="1399032" cy="384048"/>
          </a:xfrm>
          <a:prstGeom prst="roundRect">
            <a:avLst>
              <a:gd name="adj" fmla="val 14286"/>
            </a:avLst>
          </a:prstGeom>
          <a:solidFill>
            <a:srgbClr val="3FA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279746" y="18745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health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4360" y="2350008"/>
            <a:ext cx="1249070" cy="384048"/>
          </a:xfrm>
          <a:prstGeom prst="roundRect">
            <a:avLst>
              <a:gd name="adj" fmla="val 14286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2350008"/>
            <a:ext cx="1157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4360" y="30632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supporting the assumptions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" y="33375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 → IEQ → MH: retrofits with adequate ventilation improve indoor conditions, but those without ventilation can trap pollutants — the IEQ effect is contingent on specification. A UKHSA review finds 88% of studies link damp/mould to depression, anxiety and loss of control over the home.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 → Fuel poverty → MH: efficiency lowers the cost of keeping a home warm, easing financial strain (newly added mediator; supporting references still to be attached).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 → Noise → MH/PH: glazing and insulation cut external noise (~30–35 dB, double vs single glazing); the noise–mental-health evidence is mixed and rated low quality.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26680" y="1572768"/>
            <a:ext cx="3870655" cy="3749040"/>
          </a:xfrm>
          <a:prstGeom prst="roundRect">
            <a:avLst>
              <a:gd name="adj" fmla="val 1951"/>
            </a:avLst>
          </a:prstGeom>
          <a:solidFill>
            <a:srgbClr val="FBEFE0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982712" y="1755648"/>
            <a:ext cx="33585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room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982712" y="2121408"/>
            <a:ext cx="3358591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assumptions correct?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edges, right direction?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missing?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 pathways we left out?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most-doubted edge?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REVIEW · STRUCTURAL CONFOUNDERS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Socioeconomic &amp; demographic position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5727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this sector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1474013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1382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capital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14677" y="1874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60397" y="18745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21101" y="1874520"/>
            <a:ext cx="117409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66821" y="1874520"/>
            <a:ext cx="1082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25877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supporting the assumptions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2862072"/>
            <a:ext cx="67665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capital → HEE and → MH: retrofit needs upfront capital, so investment concentrates in income-targeted areas; falling below the poverty line raises common-mental-disorder prevalence by ~2.5 pp (UKHLS). Economic capital is retained in the adjustment set.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acts largely THROUGH economic capital (~6% earnings return per year of schooling); its direct edge to HEE was dropped. Education and demographics are NOT in the adjustment set — worth testing whether the panel agrees.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→ housing, overcrowding, economic capital, education: e.g. Black households face 16.1% overcrowding vs 2.5% for White households (2021 Census).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26680" y="1572768"/>
            <a:ext cx="3870655" cy="3749040"/>
          </a:xfrm>
          <a:prstGeom prst="roundRect">
            <a:avLst>
              <a:gd name="adj" fmla="val 1951"/>
            </a:avLst>
          </a:prstGeom>
          <a:solidFill>
            <a:srgbClr val="FBEFE0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982712" y="1755648"/>
            <a:ext cx="33585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room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982712" y="2121408"/>
            <a:ext cx="3358591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assumptions correct?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edges, right direction?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missing?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 pathways we left out?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most-doubted edge?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REVIEW · THE PHYSICAL DWELLING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Housing, tenure &amp; overcrowding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5727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this sector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1998878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1907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characteristics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39542" y="1874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85262" y="18745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45966" y="1874520"/>
            <a:ext cx="1174090" cy="384048"/>
          </a:xfrm>
          <a:prstGeom prst="roundRect">
            <a:avLst>
              <a:gd name="adj" fmla="val 14286"/>
            </a:avLst>
          </a:prstGeom>
          <a:solidFill>
            <a:srgbClr val="4E9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91686" y="1874520"/>
            <a:ext cx="10826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25877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supporting the assumptions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2862072"/>
            <a:ext cx="67665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characteristics → HEE and → IEQ/PH: dwelling form is the single strongest determinant of baseline efficiency (pre-1919 ~EPC 60 vs ~74 post-1990) and directly drives indoor temperature, humidity and mould. Retained in the adjustment set.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→ HEE and → MH: the landlord–tenant split incentive suppresses retrofit in the private rented sector; tenure insecurity independently predicts distress. Retained in the adjustment set.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 → IEQ and → MH: more occupants per fixed envelope raise moisture and condensation; sustained overcrowding worsens mental health. This occupancy route is distinct from the dwelling-form route.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26680" y="1572768"/>
            <a:ext cx="3870655" cy="3749040"/>
          </a:xfrm>
          <a:prstGeom prst="roundRect">
            <a:avLst>
              <a:gd name="adj" fmla="val 1951"/>
            </a:avLst>
          </a:prstGeom>
          <a:solidFill>
            <a:srgbClr val="FBEFE0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982712" y="1755648"/>
            <a:ext cx="33585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room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982712" y="2121408"/>
            <a:ext cx="3358591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assumptions correct?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edges, right direction?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missing?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 pathways we left out?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most-doubted edge?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REVIEW · LATENT SPATIAL CONTEXT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Neighbourhood, environment &amp; social fabric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5727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this sector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1923898" cy="384048"/>
          </a:xfrm>
          <a:prstGeom prst="roundRect">
            <a:avLst>
              <a:gd name="adj" fmla="val 14286"/>
            </a:avLst>
          </a:prstGeom>
          <a:solidFill>
            <a:srgbClr val="9AA9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1832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(latent)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64562" y="1874520"/>
            <a:ext cx="1848917" cy="384048"/>
          </a:xfrm>
          <a:prstGeom prst="roundRect">
            <a:avLst>
              <a:gd name="adj" fmla="val 14286"/>
            </a:avLst>
          </a:prstGeom>
          <a:solidFill>
            <a:srgbClr val="9AA9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10282" y="1874520"/>
            <a:ext cx="17574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history (latent)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59782" y="1874520"/>
            <a:ext cx="1249070" cy="384048"/>
          </a:xfrm>
          <a:prstGeom prst="roundRect">
            <a:avLst>
              <a:gd name="adj" fmla="val 14286"/>
            </a:avLst>
          </a:prstGeom>
          <a:solidFill>
            <a:srgbClr val="4E9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05502" y="1874520"/>
            <a:ext cx="1157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55157" y="1874520"/>
            <a:ext cx="1099109" cy="384048"/>
          </a:xfrm>
          <a:prstGeom prst="roundRect">
            <a:avLst>
              <a:gd name="adj" fmla="val 14286"/>
            </a:avLst>
          </a:prstGeom>
          <a:solidFill>
            <a:srgbClr val="4E9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00877" y="1874520"/>
            <a:ext cx="10076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space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4360" y="2350008"/>
            <a:ext cx="1249070" cy="384048"/>
          </a:xfrm>
          <a:prstGeom prst="roundRect">
            <a:avLst>
              <a:gd name="adj" fmla="val 14286"/>
            </a:avLst>
          </a:prstGeom>
          <a:solidFill>
            <a:srgbClr val="5C7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350008"/>
            <a:ext cx="1157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989734" y="2350008"/>
            <a:ext cx="1249070" cy="384048"/>
          </a:xfrm>
          <a:prstGeom prst="roundRect">
            <a:avLst>
              <a:gd name="adj" fmla="val 14286"/>
            </a:avLst>
          </a:prstGeom>
          <a:solidFill>
            <a:srgbClr val="5C7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035454" y="2350008"/>
            <a:ext cx="1157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Neigh. stress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85109" y="23500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5C7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430829" y="23500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491533" y="2350008"/>
            <a:ext cx="1324051" cy="384048"/>
          </a:xfrm>
          <a:prstGeom prst="roundRect">
            <a:avLst>
              <a:gd name="adj" fmla="val 14286"/>
            </a:avLst>
          </a:prstGeom>
          <a:solidFill>
            <a:srgbClr val="5C7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37253" y="2350008"/>
            <a:ext cx="12326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capital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961888" y="2350008"/>
            <a:ext cx="1399032" cy="384048"/>
          </a:xfrm>
          <a:prstGeom prst="roundRect">
            <a:avLst>
              <a:gd name="adj" fmla="val 14286"/>
            </a:avLst>
          </a:prstGeom>
          <a:solidFill>
            <a:srgbClr val="5C7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07608" y="235000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capital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94360" y="2825496"/>
            <a:ext cx="1399032" cy="384048"/>
          </a:xfrm>
          <a:prstGeom prst="roundRect">
            <a:avLst>
              <a:gd name="adj" fmla="val 14286"/>
            </a:avLst>
          </a:prstGeom>
          <a:solidFill>
            <a:srgbClr val="3FA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" y="282549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abuse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94360" y="35387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supporting the assumptions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4360" y="3813048"/>
            <a:ext cx="67665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is a LATENT area-level container generating local exposures — it routes to air pollution, green space, accessibility, noise, neighbourhood stress and social capital. The most deprived 20% of LSOAs face ~8% higher PM₂.₅ (2023).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exposures reach mental health directly: ~10–18% higher depression risk per 10 µg/m³ PM₂.₅; green space is protective (2.3m-adult Welsh panel); loneliness more than doubles new-onset depression.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history (latent) underpins persistence — area deprivation rankings correlate r = 0.706 between 1971 and 2021 — feeding economic capital, education, tenure and social capital.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726680" y="1572768"/>
            <a:ext cx="3870655" cy="3749040"/>
          </a:xfrm>
          <a:prstGeom prst="roundRect">
            <a:avLst>
              <a:gd name="adj" fmla="val 1951"/>
            </a:avLst>
          </a:prstGeom>
          <a:solidFill>
            <a:srgbClr val="FBEFE0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982712" y="1755648"/>
            <a:ext cx="33585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room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982712" y="2121408"/>
            <a:ext cx="3358591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assumptions correct?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edges, right direction?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missing?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 pathways we left out?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most-doubted edge?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REVIEW · UPSTREAM DRIVERS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context: climate, urbanicity &amp; policy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5727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this sector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00784" y="1874520"/>
            <a:ext cx="1024128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746504" y="18745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Urbanicity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71216" y="1874520"/>
            <a:ext cx="1923898" cy="384048"/>
          </a:xfrm>
          <a:prstGeom prst="roundRect">
            <a:avLst>
              <a:gd name="adj" fmla="val 14286"/>
            </a:avLst>
          </a:prstGeom>
          <a:solidFill>
            <a:srgbClr val="5C7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16936" y="1874520"/>
            <a:ext cx="1832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 scheme access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25877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supporting the assumptions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2862072"/>
            <a:ext cx="67665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→ HEE, housing, IEQ and MH: regional weather shapes heat demand and overheating risk; extreme events degrade dwellings and harm mental health directly (UK meta-analysis: 30% PTSD, 21% depression among those affected). Retained in the adjustment set.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Urbanicity → HEE: rural dwellings average markedly lower EPC than urban (median 59 vs 68) — the single strongest geographic predictor of dwelling efficiency. Retained in the adjustment set.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 scheme access → HEE: scheme uptake (ECO has driven 71–86% of scheme installations since 2013) determines whether measures are installed. It sits downstream of economic capital and urbanicity, so it is treated as a mediator, not a confounder.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26680" y="1572768"/>
            <a:ext cx="3870655" cy="3749040"/>
          </a:xfrm>
          <a:prstGeom prst="roundRect">
            <a:avLst>
              <a:gd name="adj" fmla="val 1951"/>
            </a:avLst>
          </a:prstGeom>
          <a:solidFill>
            <a:srgbClr val="FBEFE0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982712" y="1755648"/>
            <a:ext cx="33585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room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982712" y="2121408"/>
            <a:ext cx="3358591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assumptions correct?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edges, right direction?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missing?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 pathways we left out?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most-doubted edge?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DATASET FOR THE ANALYSIS?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Operationalising mental health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272888" cy="3017520"/>
          </a:xfrm>
          <a:prstGeom prst="roundRect">
            <a:avLst>
              <a:gd name="adj" fmla="val 2424"/>
            </a:avLst>
          </a:prstGeom>
          <a:solidFill>
            <a:srgbClr val="EAF2F3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892808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QOF — recorded depression prevalence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04872"/>
            <a:ext cx="4724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clearly defined recorded condition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diagnosed/recorded cases (under-counts undiagnosed)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Dep_change (2011–2019) avoids the pandemic window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outcome in the estimation paper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4448" y="1691640"/>
            <a:ext cx="5272888" cy="3017520"/>
          </a:xfrm>
          <a:prstGeom prst="roundRect">
            <a:avLst>
              <a:gd name="adj" fmla="val 2424"/>
            </a:avLst>
          </a:prstGeom>
          <a:solidFill>
            <a:srgbClr val="FBEFE0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98768" y="1892808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SAMHI — composite index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98768" y="2404872"/>
            <a:ext cx="4724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construct — combines multiple MH signals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more than a single diagnosis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score spans the pandemic period — comparability concern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primary outcome in earlier work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" y="498348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0E3A3B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5120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for the room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886200" y="5120640"/>
            <a:ext cx="7345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measure should be primary, and should the other serve as a sensitivity analysis? Trade-offs: construct validity vs coverage vs temporal comparability across the study period.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min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TODAY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sign-off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828800"/>
            <a:ext cx="2476424" cy="2194560"/>
          </a:xfrm>
          <a:prstGeom prst="roundRect">
            <a:avLst>
              <a:gd name="adj" fmla="val 3333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558252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5825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the DAG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4612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 today's agreed changes and document any dropped edges.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360" y="233172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36544" y="1828800"/>
            <a:ext cx="2476424" cy="2194560"/>
          </a:xfrm>
          <a:prstGeom prst="roundRect">
            <a:avLst>
              <a:gd name="adj" fmla="val 3333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400436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40043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573704" y="27889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19424" y="324612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updated DAG with everyone, including those who could not attend.</a:t>
            </a:r>
            <a:endParaRPr lang="en-US" sz="11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4" y="2331720"/>
            <a:ext cx="292608" cy="29260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78728" y="1828800"/>
            <a:ext cx="2476424" cy="2194560"/>
          </a:xfrm>
          <a:prstGeom prst="roundRect">
            <a:avLst>
              <a:gd name="adj" fmla="val 3333"/>
            </a:avLst>
          </a:prstGeom>
          <a:solidFill>
            <a:srgbClr val="F7FAFA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242619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242619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415888" y="27889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comments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61608" y="324612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round of online comments via GitHub or annotated PDF.</a:t>
            </a:r>
            <a:endParaRPr lang="en-US" sz="11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1727" y="2331720"/>
            <a:ext cx="292608" cy="29260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120911" y="1828800"/>
            <a:ext cx="2476424" cy="2194560"/>
          </a:xfrm>
          <a:prstGeom prst="roundRect">
            <a:avLst>
              <a:gd name="adj" fmla="val 3333"/>
            </a:avLst>
          </a:prstGeom>
          <a:solidFill>
            <a:srgbClr val="FBEFE0"/>
          </a:solidFill>
          <a:ln w="12700">
            <a:solidFill>
              <a:srgbClr val="D5DEDE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084803" y="2103120"/>
            <a:ext cx="548640" cy="548640"/>
          </a:xfrm>
          <a:prstGeom prst="ellipse">
            <a:avLst/>
          </a:prstGeom>
          <a:solidFill>
            <a:srgbClr val="D98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10084803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9258071" y="27889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303791" y="324612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agreed structure before estimation proceeds.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94360" y="43434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channels remain open throughout — your considered comments after the session are as valuable as those made live.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10042855" y="49377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3A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9159" y="576072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426903" y="493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min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3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383280"/>
            <a:ext cx="4572000" cy="4572000"/>
          </a:xfrm>
          <a:prstGeom prst="ellipse">
            <a:avLst/>
          </a:prstGeom>
          <a:solidFill>
            <a:srgbClr val="124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822960" cy="822960"/>
          </a:xfrm>
          <a:prstGeom prst="ellipse">
            <a:avLst/>
          </a:prstGeom>
          <a:solidFill>
            <a:srgbClr val="D98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58191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3337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review is what makes the causal structure — and everything we estimate from it — defensible.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4389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DAG:  csauyong.github.io/dag-review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Comments:  GitHub Issues or annotated PDF by email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 Sang Au Yong  ·  ucbvauy@ucl.ac.uk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566928" cy="566928"/>
          </a:xfrm>
          <a:prstGeom prst="ellipse">
            <a:avLst/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10225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25 NODES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5836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3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— node roles at a glance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55448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coding used in the DAG figure and on the sector slides.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11680"/>
          <a:ext cx="11000232" cy="4023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in this study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energy efficiency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health (QOF / SAMHI)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confounder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· Economic capital · Housing characteristics · Tenure · Urbanicity (adjustment set) — plus Education, Demographics (assessed, excluded)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Set: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mediator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IEQ · Air pollution · Green space · Noise · Overcrowding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/ structural mediator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Neighbourhood · Neigh. stress · Accessibility · Social capital · Digital capital · Policy access · Isolation · Fuel poverty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mediator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health · Substance abuse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Neighbourhood (latent) · Area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Drawn, not adjusted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2346</TotalTime>
  <Words>3342</Words>
  <Application>Microsoft Macintosh PowerPoint</Application>
  <PresentationFormat>Widescreen</PresentationFormat>
  <Paragraphs>352</Paragraphs>
  <Slides>18</Slides>
  <Notes>18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 Expert Review Workshop</dc:title>
  <dc:subject>PptxGenJS Presentation</dc:subject>
  <dc:creator>Chun Sang Au Yong</dc:creator>
  <cp:lastModifiedBy>Chun Sang Au Yong</cp:lastModifiedBy>
  <cp:revision>3</cp:revision>
  <dcterms:created xsi:type="dcterms:W3CDTF">2026-06-21T18:43:52Z</dcterms:created>
  <dcterms:modified xsi:type="dcterms:W3CDTF">2026-06-23T09:52:23Z</dcterms:modified>
</cp:coreProperties>
</file>